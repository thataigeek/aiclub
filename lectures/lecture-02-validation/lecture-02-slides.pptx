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помилка на train</c:v>
                </c:pt>
              </c:strCache>
            </c:strRef>
          </c:tx>
          <c:spPr>
            <a:solidFill>
              <a:srgbClr val="2F6289"/>
            </a:solidFill>
            <a:ln w="31750" cap="flat">
              <a:solidFill>
                <a:srgbClr val="2F628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289"/>
              </a:solidFill>
              <a:ln w="9525" cap="flat">
                <a:solidFill>
                  <a:srgbClr val="2F628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0.62</c:v>
                </c:pt>
                <c:pt idx="1">
                  <c:v>0.48</c:v>
                </c:pt>
                <c:pt idx="2">
                  <c:v>0.38</c:v>
                </c:pt>
                <c:pt idx="3">
                  <c:v>0.3</c:v>
                </c:pt>
                <c:pt idx="4">
                  <c:v>0.24</c:v>
                </c:pt>
                <c:pt idx="5">
                  <c:v>0.19</c:v>
                </c:pt>
                <c:pt idx="6">
                  <c:v>0.15</c:v>
                </c:pt>
                <c:pt idx="7">
                  <c:v>0.12</c:v>
                </c:pt>
                <c:pt idx="8">
                  <c:v>0.09</c:v>
                </c:pt>
                <c:pt idx="9">
                  <c:v>0.07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помилка на test</c:v>
                </c:pt>
              </c:strCache>
            </c:strRef>
          </c:tx>
          <c:spPr>
            <a:solidFill>
              <a:srgbClr val="5B3B70"/>
            </a:solidFill>
            <a:ln w="31750" cap="flat">
              <a:solidFill>
                <a:srgbClr val="5B3B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3B70"/>
              </a:solidFill>
              <a:ln w="9525" cap="flat">
                <a:solidFill>
                  <a:srgbClr val="5B3B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0.66</c:v>
                </c:pt>
                <c:pt idx="1">
                  <c:v>0.55</c:v>
                </c:pt>
                <c:pt idx="2">
                  <c:v>0.47</c:v>
                </c:pt>
                <c:pt idx="3">
                  <c:v>0.42</c:v>
                </c:pt>
                <c:pt idx="4">
                  <c:v>0.4</c:v>
                </c:pt>
                <c:pt idx="5">
                  <c:v>0.41</c:v>
                </c:pt>
                <c:pt idx="6">
                  <c:v>0.45</c:v>
                </c:pt>
                <c:pt idx="7">
                  <c:v>0.52</c:v>
                </c:pt>
                <c:pt idx="8">
                  <c:v>0.62</c:v>
                </c:pt>
                <c:pt idx="9">
                  <c:v>0.74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ємність моделі / кількість підганянь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помилка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58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півширина 95 % ДІ</c:v>
                </c:pt>
              </c:strCache>
            </c:strRef>
          </c:tx>
          <c:spPr>
            <a:solidFill>
              <a:srgbClr val="2F6289"/>
            </a:solidFill>
            <a:ln w="31750" cap="flat">
              <a:solidFill>
                <a:srgbClr val="2F628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454F"/>
                    </a:solidFill>
                    <a:latin typeface="Courier New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6289"/>
              </a:solidFill>
              <a:ln w="9525" cap="flat">
                <a:solidFill>
                  <a:srgbClr val="2F628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1K</c:v>
                  </c:pt>
                  <c:pt idx="4">
                    <c:v>2K</c:v>
                  </c:pt>
                  <c:pt idx="5">
                    <c:v>5K</c:v>
                  </c:pt>
                  <c:pt idx="6">
                    <c:v>10K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5.88</c:v>
                </c:pt>
                <c:pt idx="1">
                  <c:v>4.16</c:v>
                </c:pt>
                <c:pt idx="2">
                  <c:v>2.63</c:v>
                </c:pt>
                <c:pt idx="3">
                  <c:v>1.86</c:v>
                </c:pt>
                <c:pt idx="4">
                  <c:v>1.31</c:v>
                </c:pt>
                <c:pt idx="5">
                  <c:v>0.83</c:v>
                </c:pt>
                <c:pt idx="6">
                  <c:v>0.59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B454F"/>
                  </a:solidFill>
                  <a:latin typeface="Courier New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розмір тестової вибірки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півширина 95 % ДІ, п.п.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FPR 5 % — поточна модель</c:v>
                </c:pt>
              </c:strCache>
            </c:strRef>
          </c:tx>
          <c:spPr>
            <a:solidFill>
              <a:srgbClr val="A83620"/>
            </a:solidFill>
            <a:ln w="31750" cap="flat">
              <a:solidFill>
                <a:srgbClr val="A836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3620"/>
              </a:solidFill>
              <a:ln w="9525" cap="flat">
                <a:solidFill>
                  <a:srgbClr val="A836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0,1 %</c:v>
                  </c:pt>
                  <c:pt idx="1">
                    <c:v>0,5 %</c:v>
                  </c:pt>
                  <c:pt idx="2">
                    <c:v>1 %</c:v>
                  </c:pt>
                  <c:pt idx="3">
                    <c:v>2 %</c:v>
                  </c:pt>
                  <c:pt idx="4">
                    <c:v>5 %</c:v>
                  </c:pt>
                  <c:pt idx="5">
                    <c:v>10 %</c:v>
                  </c:pt>
                  <c:pt idx="6">
                    <c:v>20 %</c:v>
                  </c:pt>
                  <c:pt idx="7">
                    <c:v>50 %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0.018</c:v>
                </c:pt>
                <c:pt idx="1">
                  <c:v>0.083</c:v>
                </c:pt>
                <c:pt idx="2">
                  <c:v>0.154</c:v>
                </c:pt>
                <c:pt idx="3">
                  <c:v>0.269</c:v>
                </c:pt>
                <c:pt idx="4">
                  <c:v>0.486</c:v>
                </c:pt>
                <c:pt idx="5">
                  <c:v>0.667</c:v>
                </c:pt>
                <c:pt idx="6">
                  <c:v>0.818</c:v>
                </c:pt>
                <c:pt idx="7">
                  <c:v>0.947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FPR 0,9 % — потрібна модель</c:v>
                </c:pt>
              </c:strCache>
            </c:strRef>
          </c:tx>
          <c:spPr>
            <a:solidFill>
              <a:srgbClr val="2C6349"/>
            </a:solidFill>
            <a:ln w="31750" cap="flat">
              <a:solidFill>
                <a:srgbClr val="2C63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6349"/>
              </a:solidFill>
              <a:ln w="9525" cap="flat">
                <a:solidFill>
                  <a:srgbClr val="2C63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0,1 %</c:v>
                  </c:pt>
                  <c:pt idx="1">
                    <c:v>0,5 %</c:v>
                  </c:pt>
                  <c:pt idx="2">
                    <c:v>1 %</c:v>
                  </c:pt>
                  <c:pt idx="3">
                    <c:v>2 %</c:v>
                  </c:pt>
                  <c:pt idx="4">
                    <c:v>5 %</c:v>
                  </c:pt>
                  <c:pt idx="5">
                    <c:v>10 %</c:v>
                  </c:pt>
                  <c:pt idx="6">
                    <c:v>20 %</c:v>
                  </c:pt>
                  <c:pt idx="7">
                    <c:v>50 %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0.09</c:v>
                </c:pt>
                <c:pt idx="1">
                  <c:v>0.332</c:v>
                </c:pt>
                <c:pt idx="2">
                  <c:v>0.5</c:v>
                </c:pt>
                <c:pt idx="3">
                  <c:v>0.669</c:v>
                </c:pt>
                <c:pt idx="4">
                  <c:v>0.839</c:v>
                </c:pt>
                <c:pt idx="5">
                  <c:v>0.917</c:v>
                </c:pt>
                <c:pt idx="6">
                  <c:v>0.961</c:v>
                </c:pt>
                <c:pt idx="7">
                  <c:v>0.99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базова частота цілей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precision (recall зафіксовано на 0,90)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58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</c:v>
                </c:pt>
              </c:strCache>
            </c:strRef>
          </c:tx>
          <c:spPr>
            <a:solidFill>
              <a:srgbClr val="2F6289"/>
            </a:solidFill>
            <a:ln w="31750" cap="flat">
              <a:solidFill>
                <a:srgbClr val="2F6289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F6289"/>
              </a:solidFill>
              <a:ln w="9525" cap="flat">
                <a:solidFill>
                  <a:srgbClr val="2F6289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0.001</c:v>
                </c:pt>
                <c:pt idx="2">
                  <c:v>0.005</c:v>
                </c:pt>
                <c:pt idx="3">
                  <c:v>0.01</c:v>
                </c:pt>
                <c:pt idx="4">
                  <c:v>0.02</c:v>
                </c:pt>
                <c:pt idx="5">
                  <c:v>0.05</c:v>
                </c:pt>
                <c:pt idx="6">
                  <c:v>0.1</c:v>
                </c:pt>
                <c:pt idx="7">
                  <c:v>0.2</c:v>
                </c:pt>
                <c:pt idx="8">
                  <c:v>0.5</c:v>
                </c:pt>
                <c:pt idx="9">
                  <c:v>1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0.436</c:v>
                </c:pt>
                <c:pt idx="2">
                  <c:v>0.638</c:v>
                </c:pt>
                <c:pt idx="3">
                  <c:v>0.727</c:v>
                </c:pt>
                <c:pt idx="4">
                  <c:v>0.809</c:v>
                </c:pt>
                <c:pt idx="5">
                  <c:v>0.901</c:v>
                </c:pt>
                <c:pt idx="6">
                  <c:v>0.95</c:v>
                </c:pt>
                <c:pt idx="7">
                  <c:v>0.982</c:v>
                </c:pt>
                <c:pt idx="8">
                  <c:v>0.998</c:v>
                </c:pt>
                <c:pt idx="9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FPR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recall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</c:v>
                </c:pt>
              </c:strCache>
            </c:strRef>
          </c:tx>
          <c:spPr>
            <a:solidFill>
              <a:srgbClr val="A83620"/>
            </a:solidFill>
            <a:ln w="31750" cap="flat">
              <a:solidFill>
                <a:srgbClr val="A8362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A83620"/>
              </a:solidFill>
              <a:ln w="9525" cap="flat">
                <a:solidFill>
                  <a:srgbClr val="A8362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0.05</c:v>
                </c:pt>
                <c:pt idx="1">
                  <c:v>0.215</c:v>
                </c:pt>
                <c:pt idx="2">
                  <c:v>0.436</c:v>
                </c:pt>
                <c:pt idx="3">
                  <c:v>0.638</c:v>
                </c:pt>
                <c:pt idx="4">
                  <c:v>0.727</c:v>
                </c:pt>
                <c:pt idx="5">
                  <c:v>0.809</c:v>
                </c:pt>
                <c:pt idx="6">
                  <c:v>0.901</c:v>
                </c:pt>
                <c:pt idx="7">
                  <c:v>0.95</c:v>
                </c:pt>
                <c:pt idx="8">
                  <c:v>0.982</c:v>
                </c:pt>
                <c:pt idx="9">
                  <c:v>1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0.99</c:v>
                </c:pt>
                <c:pt idx="1">
                  <c:v>0.956</c:v>
                </c:pt>
                <c:pt idx="2">
                  <c:v>0.815</c:v>
                </c:pt>
                <c:pt idx="3">
                  <c:v>0.563</c:v>
                </c:pt>
                <c:pt idx="4">
                  <c:v>0.423</c:v>
                </c:pt>
                <c:pt idx="5">
                  <c:v>0.29</c:v>
                </c:pt>
                <c:pt idx="6">
                  <c:v>0.154</c:v>
                </c:pt>
                <c:pt idx="7">
                  <c:v>0.088</c:v>
                </c:pt>
                <c:pt idx="8">
                  <c:v>0.047</c:v>
                </c:pt>
                <c:pt idx="9">
                  <c:v>0.01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recall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precision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ідеал</c:v>
                </c:pt>
              </c:strCache>
            </c:strRef>
          </c:tx>
          <c:spPr>
            <a:solidFill>
              <a:srgbClr val="6B7581"/>
            </a:solidFill>
            <a:ln w="31750" cap="flat">
              <a:solidFill>
                <a:srgbClr val="6B75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581"/>
              </a:solidFill>
              <a:ln w="9525" cap="flat">
                <a:solidFill>
                  <a:srgbClr val="6B7581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0.35</c:v>
                </c:pt>
                <c:pt idx="1">
                  <c:v>0.45</c:v>
                </c:pt>
                <c:pt idx="2">
                  <c:v>0.55</c:v>
                </c:pt>
                <c:pt idx="3">
                  <c:v>0.65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0.35</c:v>
                </c:pt>
                <c:pt idx="1">
                  <c:v>0.45</c:v>
                </c:pt>
                <c:pt idx="2">
                  <c:v>0.55</c:v>
                </c:pt>
                <c:pt idx="3">
                  <c:v>0.65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до калібрування</c:v>
                </c:pt>
              </c:strCache>
            </c:strRef>
          </c:tx>
          <c:spPr>
            <a:solidFill>
              <a:srgbClr val="A83620"/>
            </a:solidFill>
            <a:ln w="31750" cap="flat">
              <a:solidFill>
                <a:srgbClr val="A836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3620"/>
              </a:solidFill>
              <a:ln w="9525" cap="flat">
                <a:solidFill>
                  <a:srgbClr val="A83620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0.35</c:v>
                </c:pt>
                <c:pt idx="1">
                  <c:v>0.45</c:v>
                </c:pt>
                <c:pt idx="2">
                  <c:v>0.55</c:v>
                </c:pt>
                <c:pt idx="3">
                  <c:v>0.65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0.28</c:v>
                </c:pt>
                <c:pt idx="1">
                  <c:v>0.35</c:v>
                </c:pt>
                <c:pt idx="2">
                  <c:v>0.42</c:v>
                </c:pt>
                <c:pt idx="3">
                  <c:v>0.48</c:v>
                </c:pt>
                <c:pt idx="4">
                  <c:v>0.55</c:v>
                </c:pt>
                <c:pt idx="5">
                  <c:v>0.64</c:v>
                </c:pt>
                <c:pt idx="6">
                  <c:v>0.78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після temperature scaling</c:v>
                </c:pt>
              </c:strCache>
            </c:strRef>
          </c:tx>
          <c:spPr>
            <a:solidFill>
              <a:srgbClr val="2C6349"/>
            </a:solidFill>
            <a:ln w="31750" cap="flat">
              <a:solidFill>
                <a:srgbClr val="2C63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6349"/>
              </a:solidFill>
              <a:ln w="9525" cap="flat">
                <a:solidFill>
                  <a:srgbClr val="2C6349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0.35</c:v>
                </c:pt>
                <c:pt idx="1">
                  <c:v>0.45</c:v>
                </c:pt>
                <c:pt idx="2">
                  <c:v>0.55</c:v>
                </c:pt>
                <c:pt idx="3">
                  <c:v>0.65</c:v>
                </c:pt>
                <c:pt idx="4">
                  <c:v>0.75</c:v>
                </c:pt>
                <c:pt idx="5">
                  <c:v>0.85</c:v>
                </c:pt>
                <c:pt idx="6">
                  <c:v>0.95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0.33</c:v>
                </c:pt>
                <c:pt idx="1">
                  <c:v>0.44</c:v>
                </c:pt>
                <c:pt idx="2">
                  <c:v>0.53</c:v>
                </c:pt>
                <c:pt idx="3">
                  <c:v>0.64</c:v>
                </c:pt>
                <c:pt idx="4">
                  <c:v>0.73</c:v>
                </c:pt>
                <c:pt idx="5">
                  <c:v>0.84</c:v>
                </c:pt>
                <c:pt idx="6">
                  <c:v>0.93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.3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впевненість, яку заявила модель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6350" cap="flat">
              <a:solidFill>
                <a:srgbClr val="D3D9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5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581"/>
                    </a:solidFill>
                    <a:latin typeface="Arial"/>
                  </a:rPr>
                  <a:t>спостережувана частка позитивів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58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58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Хронометраж 80 хв: 0 хук 6 · 1 навіщо розбивати 8 · 2 схеми CV 14 · 3 витік 20 · 4 дисбаланс 14 · 5 калібрування 10 · 6 офлайн vs ціль 5 · 7 чек-ліст 3. Якщо пара 2×40 — перерва після блоку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Руки, не оцінюється. Дати 30–40 секунд на суперечку. Правильна відповідь — методологія. Числа наведені як типова величина ефекту; задокументовані аналоги — на слайді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Звідси рамка лекції: п'ять тем програми подаються не як окремі техніки, а як способи самообману і захист від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Оборонній аудиторії — перші два рядки. Тим, хто робить LLM-агентів, — третій: та сама помилка, одиниця незалежності — репозиторій, а «витік» називається контамінацією бенчмарку.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Достатньо: train error падає монотонно, test error має мінімум, розрив між ними — це те, що ми хочемо виміряти, а не сховати. Лекція 3 розкладе цей розрив на зсув і дисперсію.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колірна схема (train синій / val вохра / test сливовий) повертається в лекціях 4, 13 і 14. Попросити студентів запам'ятати саме її.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Оцінка максимуму m незалежних гаусівських величин. Не доводити — показати порядок. Це кількісна відповідь на «ну і що, я ж просто подивився».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Щоб надійно побачити різницю 2 п.п., потрібно близько 2 000 прикладів у тесті. У більшості студентських ЛР тест — 200–400 прикладів. Отже, всі їхні «покращення» на 1–2 п.п. — шум. Сказати це прямо.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читати таблицю вголос. Показати й одразу перейти до розбору чотирьох рядків: k-fold, stratified, group, time-series. Nested — наприкінці блоку.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Підкреслити: σ по фолдах — це НЕ довірчий інтервал для узагальнення, бо фолди перетинаються по train. Це радше індикатор стабільності. Для ДІ — бутстреп на тесті.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Природний місток до блоку 3: стратифікація — інструмент проти дисперсії, а не проти витоку. Студенти регулярно плутають ці дві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Запитати зал: назвіть свою групу для своїх даних. Якщо студент не може назвати одиницю незалежності — він ще не розуміє задачу, а не методологію.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різні сенсори — РЧ, акустика, відео — і той самий механізм помилки. Це аргумент, чому питання «яка одиниця незалежності» універсальніше за будь-яку конкретну техніку.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Ковзні статистики й target encoding треба рахувати тільки з даних лівіше межі. Найчастіша реалізація помилки — rolling mean, порахований по всьому ряду до розбиття.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Вартість: k_зовн × k_внутр навчань. Для 5×5 це 25 моделей. На практиці — або окремий заморожений тест, або nested CV на малих даних, але не «5-fold і звіт по ньому ж».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Емоційна ставка блоку: якщо 77 % робіт у безпеці ігнорують базову частоту, то ваша інтуїція «ну в мене ж усе ок» нічого не варта. Потрібна процедура, а не інтуїція.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Поділ на три походження — найкорисніше зі слайда. Від нього залежить і лікування: код лікується Pipeline, дані — схемою розбиття, поведінка — дисципліною і журналом експериментів.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прийом: для кожної ознаки записати часову мітку, коли вона стає відомою, і порівняти з міткою предиктивного рішення. Якщо колонки «коли відомо» немає — це вже червоний прапорець.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Повний список «підглядачів»: масштабування, PCA, імпутація, відбір ознак за кореляцією з ціллю, побудова словника/TF-IDF, кластеризація для ознак, обрізання викидів, SMOTE. Усі вони мають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з блоку 2 сюди ж: у VisDrone структурно-обізнане розбиття прибрало 98,5 % near-duplicate перетину. Тобто в наївному варіанті цього перетину було стільки, що він і робив метрику.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агентних бенчмарків це називається contamination, і практичний захист той самий — held-out задачі, створені після межі даних моделі, плюс перевірка на зовнішніх репозиторіях.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Навмисно показати легенду і задокументований випадок поруч: студенти люблять переказувати історію про танки. Посилатися треба на MSTAR, а не на анекдот. Це також урок про перевірку джерел.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Картки A/B/C або Mentimeter, після кожного кейсу 20 секунд розбору. Відповіді: 1 груповий витік (GroupKFold за mission_id) · 2 препроцесинг (Pipeline) · 3 ціль в ознаках · 4 SMOTE до розбиття (imblearn.Pipeline усередині фолду) · 5 мета-витік, тест став валідацією · 6 Clever Hans, модель вчить пору року й gain сенсора. Кейси 1 і 6 — найважливіші.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Label-shuffle тест варто зробити обов'язковою клітинкою в шаблоні ЛР. Він ловить майже всі реалізаційні витоки за одну хвилину машинного часу.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 показувати вживу, не слайдом: ефект сильніший, коли число змінюється на очах. Тримати ноутбук відкритим заздалегідь.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Ця теза ламає очікування: студенти приходять із думкою «дисбаланс → SMOTE». Показати, що в трьох випадках із чотирьох SMOTE не допоможе взагалі.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Дати рахувати самим три хвилини, не показуючи відповідь. Це найсильніший слайд лекції — не поспішати. Матриця плутанини в цьому вигляді повертається в лекціях 4, 13,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фундаментальна межа, відома в безпеці з 1999 року як base-rate fallacy: у задачах виявлення саме частота хибних тривог, а не чутливість, обмежує придатність системи (Axelsson, ACM TISSEC 2000). У сучасних оглядах робіт із безпеки цю помилку допускають 77 % авторів.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дій на практиці: спершу поріг, потім ваги, і тільки якщо це не спрацювало — ресемплінг. Студенти роблять навпаки.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казати «ROC-AUC поганий». Казати: ROC-AUC відповідає на питання про ранжування і не залежить від базової частоти, PR-AUC — на питання про роботу оператора і залежить. Для рідкісних цілей вам потрібне друге.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протидії БпЛА поріг диктує не статистика, а оператор: система, налаштована ловити все, генерує стільки нуйсенс-тривог, що реальні починають ігнорувати. Промислова відповідь — підняття порога плюс підтвердження другим сенсором.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Розклад Brier проговорити: reliability — це калібрування, resolution — здатність розділяти класи, uncertainty — властивість задачі. Калібрування покращує перший доданок і не чіпає другий.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Місток для тих, хто робить агентів: будь-який поріг «ескалювати людині / діяти самостійно» стоїть на впевненості моделі. Якщо вона некалібрована, ваш поріг означає не те, що ви думаєте.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scikit-learn це CalibratedClassifierCV з method='sigmoid' або 'isotonic' і cv=5. Підкреслити: вона робить крос-валідацію саме для того, щоб не калібрувати на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Точка, де сходяться блоки 4 і 5. Студенти вчать їх як окремі теми і не бачать конфлікту: перемогли дисбаланс — зламали ймовірності.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РН6, він повертається в лекції 12. Тут лише словник і причини розбіжності. Не заглиблюватися — 5 хвилин.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Роздатковий матеріал на одну сторінку. Роздати саме тут, у кінці, щоб під час лекції не читали замість слухання.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Закінчити рівно на цьому. Питання — після, у перерві або в чаті курсу.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на слайдах наведені так, як їх подають першоджерела. Частина робіт — препринти, тож перед лекцією варто звірити свіжі версії.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ЛЕКЦІЯ 2 · КУРС МАШИННОГО НАВЧАННЯ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051560"/>
            <a:ext cx="110578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Валідація моделей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методологія експерименту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1 відповіла,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0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міряти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Ця відповідає,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організувати вимірювання, щоб число означало те, що ми думаємо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Лекція 3 відповість, звідки помилка береться.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3977640"/>
            <a:ext cx="3515258" cy="2103120"/>
          </a:xfrm>
          <a:prstGeom prst="roundRect">
            <a:avLst>
              <a:gd name="adj" fmla="val 2174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4142232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Наскрізна рамка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4507992"/>
            <a:ext cx="307634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«The first principle is that you must not fool yourself — and you are the easiest person to fool.»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 Feynman, Caltech, 1974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2174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7674" y="4142232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способи обдурити себе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57674" y="4507992"/>
            <a:ext cx="307634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розбити дані не за тією одиницею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пустити інформацію з майбутнього в минуле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міряти метрикою, не чутливою до перекосу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повірити в некалібрований score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09509" y="3977640"/>
            <a:ext cx="3515258" cy="2103120"/>
          </a:xfrm>
          <a:prstGeom prst="roundRect">
            <a:avLst>
              <a:gd name="adj" fmla="val 2174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8965" y="4142232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 навчання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328965" y="4507992"/>
            <a:ext cx="307634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РН5 · РН6 · ПРН3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Перевіряються на захисті ЛР2 та на екзамені.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0 · ХУК · 6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числа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600200"/>
            <a:ext cx="5382616" cy="2377440"/>
          </a:xfrm>
          <a:prstGeom prst="roundRect">
            <a:avLst>
              <a:gd name="adj" fmla="val 1923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764792"/>
            <a:ext cx="2377440" cy="237744"/>
          </a:xfrm>
          <a:prstGeom prst="rect">
            <a:avLst>
              <a:gd name="adj" fmla="val 15385"/>
            </a:avLst>
          </a:prstGeom>
          <a:solidFill>
            <a:srgbClr val="223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FB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ВИПАДКОВЕ РОЗБИТТЯ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12264"/>
            <a:ext cx="4943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FB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3401568"/>
            <a:ext cx="49437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2152" y="1600200"/>
            <a:ext cx="5382616" cy="2377440"/>
          </a:xfrm>
          <a:prstGeom prst="roundRect">
            <a:avLst>
              <a:gd name="adj" fmla="val 1923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1764792"/>
            <a:ext cx="2377440" cy="237744"/>
          </a:xfrm>
          <a:prstGeom prst="rect">
            <a:avLst>
              <a:gd name="adj" fmla="val 15385"/>
            </a:avLst>
          </a:prstGeom>
          <a:solidFill>
            <a:srgbClr val="2E24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B69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РОЗБИТТЯ ЗА МІСІЯМИ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2112264"/>
            <a:ext cx="4943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69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0.41</a:t>
            </a:r>
            <a:endParaRPr lang="en-US" sz="720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3401568"/>
            <a:ext cx="49437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297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модель. Один код. Один датасет.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Різниця тільки в тому, як розбили дані.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029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0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Питання в зал: хто винен — модель, дані чи методологія?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0 · ХУК · 6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це два незалежні приклади?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874520" y="1572768"/>
            <a:ext cx="3566160" cy="1965960"/>
          </a:xfrm>
          <a:prstGeom prst="roundRect">
            <a:avLst>
              <a:gd name="adj" fmla="val 1860"/>
            </a:avLst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57400" y="2944368"/>
            <a:ext cx="3200400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0" y="2624328"/>
            <a:ext cx="1005840" cy="-256032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2368296"/>
            <a:ext cx="914400" cy="201168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569464"/>
            <a:ext cx="822960" cy="-164592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7288" y="2468880"/>
            <a:ext cx="384048" cy="237744"/>
          </a:xfrm>
          <a:prstGeom prst="rect">
            <a:avLst/>
          </a:prstGeom>
          <a:solidFill>
            <a:srgbClr val="5B3B70"/>
          </a:solidFill>
          <a:ln w="6350">
            <a:solidFill>
              <a:srgbClr val="5B3B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9272" y="2340864"/>
            <a:ext cx="658368" cy="512064"/>
          </a:xfrm>
          <a:prstGeom prst="rect">
            <a:avLst/>
          </a:prstGeom>
          <a:ln w="19050">
            <a:solidFill>
              <a:srgbClr val="A836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74520" y="3593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00:04:12.033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572768"/>
            <a:ext cx="3566160" cy="1965960"/>
          </a:xfrm>
          <a:prstGeom prst="roundRect">
            <a:avLst>
              <a:gd name="adj" fmla="val 1860"/>
            </a:avLst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9440" y="2944368"/>
            <a:ext cx="3200400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2624328"/>
            <a:ext cx="1005840" cy="-256032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2368296"/>
            <a:ext cx="914400" cy="201168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98280" y="2569464"/>
            <a:ext cx="822960" cy="-164592"/>
          </a:xfrm>
          <a:prstGeom prst="line">
            <a:avLst/>
          </a:prstGeom>
          <a:noFill/>
          <a:ln w="15875">
            <a:solidFill>
              <a:srgbClr val="6B758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468880"/>
            <a:ext cx="384048" cy="237744"/>
          </a:xfrm>
          <a:prstGeom prst="rect">
            <a:avLst/>
          </a:prstGeom>
          <a:solidFill>
            <a:srgbClr val="5B3B70"/>
          </a:solidFill>
          <a:ln w="6350">
            <a:solidFill>
              <a:srgbClr val="5B3B7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6176" y="2340864"/>
            <a:ext cx="658368" cy="512064"/>
          </a:xfrm>
          <a:prstGeom prst="rect">
            <a:avLst/>
          </a:prstGeom>
          <a:ln w="19050">
            <a:solidFill>
              <a:srgbClr val="A836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3593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00:04:12.067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41848" y="2487168"/>
            <a:ext cx="914400" cy="0"/>
          </a:xfrm>
          <a:prstGeom prst="line">
            <a:avLst/>
          </a:prstGeom>
          <a:noFill/>
          <a:ln w="25400">
            <a:solidFill>
              <a:srgbClr val="A8520C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550408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мс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2926080" y="3922776"/>
            <a:ext cx="1463040" cy="237744"/>
          </a:xfrm>
          <a:prstGeom prst="rect">
            <a:avLst>
              <a:gd name="adj" fmla="val 15385"/>
            </a:avLst>
          </a:prstGeom>
          <a:solidFill>
            <a:srgbClr val="DEE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3922776"/>
            <a:ext cx="1463040" cy="237744"/>
          </a:xfrm>
          <a:prstGeom prst="rect">
            <a:avLst>
              <a:gd name="adj" fmla="val 15385"/>
            </a:avLst>
          </a:prstGeom>
          <a:solidFill>
            <a:srgbClr val="E9E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B3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43159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відео, 30 fps, той самий борт, та сама ділянка місцевості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4892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один із цих кадрів у train, а другий у test — ви виміряли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узагальнення, а пам'ять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5532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Обіцянка лекції: після неї ви дивитеся на чужий результат і питаєте «а як ви розбивали?» раніше, ніж «а яка у вас архітектура?».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0 · ХУК · 6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гіпотетичні числа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606040"/>
                <a:gridCol w="3108960"/>
                <a:gridCol w="17739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«Наївне» розбиття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Чесне розбиття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Одиниця незалежності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дрона за радіосигналом, DroneRF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62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macro-F1 0.74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3B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0.46 — рівень випадковості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Акустичне виявлення дрона, EchoHawk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62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 0.937 @ FAR 5 %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3B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0.875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сесія запису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Пошук файлу з багом за текстом issue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62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76 % на SWE-bench Verified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3B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53 % на інших репозиторіях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репозиторій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Класифікація Android-малварі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F62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 до 0.99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3B7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суттєво нижче за часового розбиття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 появи зразка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45262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всіх чотирьох випадках падіння дає не інша модель, а інша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процедура вимірювання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512064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DroneRF: arXiv 2607.01025 · EchoHawk: arXiv 2606.29589 · SWE-Bench Illusion: arXiv 2506.12286 · TESSERACT: USENIX Security '19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1 · НАВІЩО РОЗБИВАТИ · 8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Емпіричний ризик vs істинний ризик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463040"/>
          <a:ext cx="64008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196328" y="1463040"/>
            <a:ext cx="4428439" cy="1783080"/>
          </a:xfrm>
          <a:prstGeom prst="roundRect">
            <a:avLst>
              <a:gd name="adj" fmla="val 256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15784" y="162763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твердження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415784" y="1993392"/>
            <a:ext cx="3989527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Помилка на train —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зміщена, оптимістична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оцінка істинного ризику. Зміщення росте з ємністю моделі й з кількістю разів, коли ви щось підганяли.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196328" y="3401568"/>
            <a:ext cx="4428439" cy="1764792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15784" y="3566160"/>
            <a:ext cx="3989527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ніколи не бачимо істинний ризик. Ми бачимо його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оцінку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скінченній вибірці. Уся методологія — про те, щоб ця оцінка була незміщеною і щоб ми знали її дисперсію.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1 · НАВІЩО РОЗБИВАТИ · 8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ролі вибірок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6585326" cy="566928"/>
          </a:xfrm>
          <a:prstGeom prst="roundRect">
            <a:avLst>
              <a:gd name="adj" fmla="val 4839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481328"/>
            <a:ext cx="65853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· 60 %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93402" y="1481328"/>
            <a:ext cx="2195109" cy="566928"/>
          </a:xfrm>
          <a:prstGeom prst="roundRect">
            <a:avLst>
              <a:gd name="adj" fmla="val 4839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93402" y="1481328"/>
            <a:ext cx="21951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· 20 %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429659" y="1481328"/>
            <a:ext cx="2195109" cy="566928"/>
          </a:xfrm>
          <a:prstGeom prst="roundRect">
            <a:avLst>
              <a:gd name="adj" fmla="val 4839"/>
            </a:avLst>
          </a:prstGeom>
          <a:solidFill>
            <a:srgbClr val="5B3B70"/>
          </a:solidFill>
          <a:ln w="9525">
            <a:solidFill>
              <a:srgbClr val="5B3B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29659" y="1481328"/>
            <a:ext cx="21951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· 20 %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331720"/>
            <a:ext cx="351525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2496312"/>
            <a:ext cx="1737360" cy="237744"/>
          </a:xfrm>
          <a:prstGeom prst="rect">
            <a:avLst>
              <a:gd name="adj" fmla="val 15385"/>
            </a:avLst>
          </a:prstGeom>
          <a:solidFill>
            <a:srgbClr val="DEE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" y="2843784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Налаштовує параметри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3209544"/>
            <a:ext cx="307634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Ваги, коефіцієнти, розбиття дерева. Дивимося скільки завгодно разів.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38218" y="2331720"/>
            <a:ext cx="351525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57674" y="2496312"/>
            <a:ext cx="1737360" cy="237744"/>
          </a:xfrm>
          <a:prstGeom prst="rect">
            <a:avLst>
              <a:gd name="adj" fmla="val 15385"/>
            </a:avLst>
          </a:prstGeom>
          <a:solidFill>
            <a:srgbClr val="F3EA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57674" y="2843784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Обирає гіперпараметри й модель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4557674" y="3209544"/>
            <a:ext cx="307634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Глибину дерева, C, кількість компонент, поріг. Дивимося багато разів — і саме тому вона теж стає оптимістичною.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09509" y="2331720"/>
            <a:ext cx="351525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8965" y="2496312"/>
            <a:ext cx="1737360" cy="237744"/>
          </a:xfrm>
          <a:prstGeom prst="rect">
            <a:avLst>
              <a:gd name="adj" fmla="val 15385"/>
            </a:avLst>
          </a:prstGeom>
          <a:solidFill>
            <a:srgbClr val="E9E1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5B3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328965" y="2843784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ОДНУ незміщену оцінку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328965" y="3209544"/>
            <a:ext cx="307634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Дивимося один раз. Після рішення. Перед звітом.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4892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Найчастіша помилка студентських робіт —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злити val і test в одну вибірку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і звітувати число, за яким же й обирали модель.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1 · НАВІЩО РОЗБИВАТИ · 8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Тестова вибірка — це одноразовий патрон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630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погляд на тест витрачає його. Після третього «а давайте ще перевіримо на тесті» у вас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друга валідаційна вибірка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не тест.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148840"/>
            <a:ext cx="5382616" cy="2148840"/>
          </a:xfrm>
          <a:prstGeom prst="roundRect">
            <a:avLst>
              <a:gd name="adj" fmla="val 2128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231343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це виглядає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679192"/>
            <a:ext cx="494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«Спробували 30 конфігурацій, взяли найкращу за тестом.»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«Модель показала 0.78, ми трохи змінили аугментації — стало 0.81.»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«Поріг підібрали так, щоб на тесті вийшло красиво.»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2152" y="2148840"/>
            <a:ext cx="5382616" cy="2148840"/>
          </a:xfrm>
          <a:prstGeom prst="roundRect">
            <a:avLst>
              <a:gd name="adj" fmla="val 2128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231343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має бути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2679192"/>
            <a:ext cx="4943704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лежить в окремому файлі й не імпортується в ноутбук розробки.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Кількість звернень до тесту фіксується в журналі експериментів.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Витратили тест — збирайте новий або чесно звітуйте, скільки разів дивилися.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4526280"/>
            <a:ext cx="11057839" cy="11430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" y="4690872"/>
            <a:ext cx="10618927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Формально: обираючи найкраще з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конфігурацій за тією самою вибіркою, ви зміщуєте оцінку вгору приблизно на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· √(2 ln m)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Для 30 конфігурацій і σ = 2 п.п. це вже близько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п.п. «безкоштовного» приросту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1 · ПРН3 · 8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 оцінки: різниця 0.91 vs 0.89 — це не різниця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463040"/>
          <a:ext cx="64008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196328" y="1463040"/>
            <a:ext cx="4428439" cy="1920240"/>
          </a:xfrm>
          <a:prstGeom prst="roundRect">
            <a:avLst>
              <a:gd name="adj" fmla="val 238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15784" y="162763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серветці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415784" y="1993392"/>
            <a:ext cx="3989527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1,96 · √(0,9 · 0,1 / 200) ≈ 0,042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Точність на тесті — біноміальна випадкова величина. При n = 200 і accuracy 0.90 півширина 95 % ДІ ≈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п.п.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196328" y="3538728"/>
            <a:ext cx="4428439" cy="1627632"/>
          </a:xfrm>
          <a:prstGeom prst="roundRect">
            <a:avLst>
              <a:gd name="adj" fmla="val 2809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15784" y="370332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Вимога до ЛР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15784" y="4069080"/>
            <a:ext cx="398952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метрика в звіті — з довірчим інтервалом (біноміальний або бутстреп). Порівняння двох моделей без ДІ на захисті не приймається.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Одне питання, з якого випливають усі схеми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8988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є одиницею незалежності у ваших даних?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  <a:gridCol w="33741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Схема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Одиниця незалежності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Hold-out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багато даних, швидкий цикл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k-fold (k = 5 / 10)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стандарт, менша дисперсія оцінки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Stratified k-fold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рідкісні класи, малі вибірки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 зі збереженням пропорцій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k-fold / LOGO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кадри з польоту, об'єкти, оператори, борти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місія, борт, об'єкт, оператор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9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Time-series split (rolling origin)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телеметрія, дрейф, малварь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Nested CV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одночасно підбираємо і звітуємо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два рівні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валідації — це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питання смаку і не питання бібліотеки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Це відповідь на питання, що саме корелює між вашими прикладами.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Hold-out і k-fold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40180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2F6289"/>
          </a:solidFill>
          <a:ln w="6350">
            <a:solidFill>
              <a:srgbClr val="2F62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389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64792" y="1440180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8F6A0C"/>
          </a:solidFill>
          <a:ln w="6350">
            <a:solidFill>
              <a:srgbClr val="8F6A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75688" y="13898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9856" y="1440180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5B3B70"/>
          </a:solidFill>
          <a:ln w="6350">
            <a:solidFill>
              <a:srgbClr val="5B3B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30752" y="13898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1783080"/>
            <a:ext cx="5382616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192024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Hold-out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86384" y="228600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один поділ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655064" y="2286000"/>
            <a:ext cx="3227100" cy="384048"/>
          </a:xfrm>
          <a:prstGeom prst="roundRect">
            <a:avLst>
              <a:gd name="adj" fmla="val 7143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55064" y="2286000"/>
            <a:ext cx="3227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23312" y="2286000"/>
            <a:ext cx="806775" cy="384048"/>
          </a:xfrm>
          <a:prstGeom prst="roundRect">
            <a:avLst>
              <a:gd name="adj" fmla="val 7143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23312" y="2286000"/>
            <a:ext cx="806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724912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Дешево і швидко, але оцінка залежить від того, які саме приклади випали у val.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42152" y="1783080"/>
            <a:ext cx="5382616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61608" y="192024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k-fold, k = 5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61608" y="23317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фолд 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238848" y="23317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38848" y="2331720"/>
            <a:ext cx="800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80370" y="23317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21892" y="23317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63415" y="23317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04937" y="23317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61608" y="27889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фолд 2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238848" y="27889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80370" y="27889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80370" y="2788920"/>
            <a:ext cx="800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921892" y="27889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63415" y="27889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604937" y="27889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61608" y="32461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фолд 3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238848" y="32461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80370" y="32461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21892" y="32461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21892" y="3246120"/>
            <a:ext cx="800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763415" y="32461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604937" y="32461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61608" y="37033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фолд 4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238848" y="37033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80370" y="37033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21892" y="37033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763415" y="37033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763415" y="3703320"/>
            <a:ext cx="800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0604937" y="37033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61608" y="416052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фолд 5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238848" y="41605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80370" y="41605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921892" y="41605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763415" y="41605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604937" y="4160520"/>
            <a:ext cx="800374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604937" y="4160520"/>
            <a:ext cx="800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6461608" y="4663440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приклад рівно раз побував у val. Звітуємо середнє і стандартне відхилення по фолдах.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66928" y="3310128"/>
            <a:ext cx="5382616" cy="1901952"/>
          </a:xfrm>
          <a:prstGeom prst="roundRect">
            <a:avLst>
              <a:gd name="adj" fmla="val 240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86384" y="34747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вибору k</a:t>
            </a:r>
            <a:endParaRPr lang="en-US" sz="1350" dirty="0"/>
          </a:p>
        </p:txBody>
      </p:sp>
      <p:sp>
        <p:nvSpPr>
          <p:cNvPr id="60" name="Text 57"/>
          <p:cNvSpPr txBox="1"/>
          <p:nvPr/>
        </p:nvSpPr>
        <p:spPr>
          <a:xfrm>
            <a:off x="786384" y="3840480"/>
            <a:ext cx="4943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Більший k — менше зміщення, але дорожче і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сильніша кореляція між фолдами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тому σ по фолдах недооцінює справжню дисперсію. k = 5 або 10 — компроміс, який працює. LOOCV майже завжди надлишковий.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k-fold потрібен не «для краси»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6400800" cy="1691640"/>
          </a:xfrm>
          <a:prstGeom prst="roundRect">
            <a:avLst>
              <a:gd name="adj" fmla="val 2703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Звичайний k-fold при 2 % позитивів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596188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кадрів, 20 із ціллю. У 5-fold на фолд припадає в середньому 4 позитиви — але випадково легко отримати фолд із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двома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Recall на такому фолді може бути 0.5 або 1.0, і це нічого не означає.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337560"/>
            <a:ext cx="6400800" cy="1371600"/>
          </a:xfrm>
          <a:prstGeom prst="roundRect">
            <a:avLst>
              <a:gd name="adj" fmla="val 3333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3502152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k-fold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3867912"/>
            <a:ext cx="59618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Пропорція класів однакова в кожному фолді. Дисперсія оцінки падає, метрика стає інтерпретовною.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96328" y="1481328"/>
            <a:ext cx="4428439" cy="3227832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15784" y="164592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Межа застосовності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415784" y="2011680"/>
            <a:ext cx="3989527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Стратифікація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рятує від групового витоку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Якщо ті самі 20 позитивів — це 20 кадрів одного об'єкта з одного прольоту, stratified k-fold сумлінно розкладе їх по всіх фолдах і тим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гарантує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витік.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StratifiedGroupKFold(...)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scikit-learn є комбінована схема. Саме її треба брати, коли в даних одночасно рідкісний клас і групи.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k-fold: центральна схема для вашої предметної області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63040"/>
            <a:ext cx="5382616" cy="2606040"/>
          </a:xfrm>
          <a:prstGeom prst="roundRect">
            <a:avLst>
              <a:gd name="adj" fmla="val 1754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Випадкове розбиття кадрів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655064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1093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27121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3150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99178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85207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" y="24688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655064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41093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27121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13150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99178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85207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" y="29260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3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655064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41093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27121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13150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99178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85207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19050">
            <a:solidFill>
              <a:srgbClr val="A8362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3456432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місія по обидва боки межі. Модель бачила цей борт, це освітлення, цю ділянку і цей шум сенсора.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42152" y="1463040"/>
            <a:ext cx="5382616" cy="2606040"/>
          </a:xfrm>
          <a:prstGeom prst="roundRect">
            <a:avLst>
              <a:gd name="adj" fmla="val 1754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61608" y="1609344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Розбиття за місіями (GroupKFold)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6461608" y="20116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30288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6316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02345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88373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74402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760431" y="20116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61608" y="24688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2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330288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16316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702345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88373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074402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760431" y="24688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61608" y="29260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місія 3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330288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16316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702345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388373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074402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760431" y="2926080"/>
            <a:ext cx="644881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461608" y="3456432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Ціла місія цілком по один бік межі. Саме це відповідає питанню «як модель спрацює на наступному вильоті».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3891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Групу визначає не файл, а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кореляції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один політ, один борт, одна ділянка місцевості, один день, один оператор, один тепловізор.</a:t>
            </a:r>
            <a:endParaRPr lang="en-US" sz="14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0749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Стандартна формула програми: розбиття польотних журналів за місіями, а не за кадрами.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Груповий витік у реальних роботах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3515258" cy="3218688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3076346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РАДІОЧАСТОТНЕ ВИЯВЛЕННЯ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1993392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 0.74 → 0.46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542032"/>
            <a:ext cx="307634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Неперервні записи нарізали на сегменти й перемішали. Після leave-one-recording-out на DroneRF розпізнавання типу дрона падає до рівня випадкового вгадування з двох класів. Абляція: майже все «покращення» давав сегментний витік.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4809744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2607.01025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38218" y="1481328"/>
            <a:ext cx="3515258" cy="3218688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7674" y="1645920"/>
            <a:ext cx="3076346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АКУСТИЧНЕ ВИЯВЛЕННЯ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57674" y="1993392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Pd@FAR 5 %  0.937 → 0.875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57674" y="2542032"/>
            <a:ext cx="307634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самий механізм на попередньо нарізаному публічному датасеті. При FAR 1 % — 0.796 → 0.745. Ефект менший, ніж у РЧ, але систематичний і вимірюваний.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57674" y="4809744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2606.29589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09509" y="1481328"/>
            <a:ext cx="3515258" cy="3218688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8965" y="1645920"/>
            <a:ext cx="3076346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АЕРОВІДЕОСПОСТЕРЕЖЕННЯ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1993392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98,5 % near-duplicate пар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542032"/>
            <a:ext cx="307634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VisDrone сусідні кадри одного прольоту — майже дублікати. Структурно-обізнане розбиття прибирає таку частку перетину між train і val і робить валідацію справді out-of-distribution.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328965" y="4809744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2607.02055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Часове розбиття: rolling origin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21892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2F6289"/>
          </a:solidFill>
          <a:ln w="6350">
            <a:solidFill>
              <a:srgbClr val="2F628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3716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64792" y="1421892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8F6A0C"/>
          </a:solidFill>
          <a:ln w="6350">
            <a:solidFill>
              <a:srgbClr val="8F6A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75688" y="13716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9856" y="1421892"/>
            <a:ext cx="237744" cy="109728"/>
          </a:xfrm>
          <a:prstGeom prst="roundRect">
            <a:avLst>
              <a:gd name="adj" fmla="val 16667"/>
            </a:avLst>
          </a:prstGeom>
          <a:solidFill>
            <a:srgbClr val="E7EBEE"/>
          </a:solidFill>
          <a:ln w="6350">
            <a:solidFill>
              <a:srgbClr val="E7EB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30752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не сталося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17830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435608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31789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27970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27970" y="1783080"/>
            <a:ext cx="7550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24151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0333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16514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2695" y="17830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2402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2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435608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31789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27970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24151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24151" y="2240280"/>
            <a:ext cx="7550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20333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16514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12695" y="22402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928" y="26974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3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435608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31789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27970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24151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20333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20333" y="2697480"/>
            <a:ext cx="7550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16514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212695" y="26974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6928" y="315468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4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435608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31789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027970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24151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20333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16514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16514" y="3154680"/>
            <a:ext cx="7550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212695" y="3154680"/>
            <a:ext cx="755033" cy="347472"/>
          </a:xfrm>
          <a:prstGeom prst="roundRect">
            <a:avLst>
              <a:gd name="adj" fmla="val 7895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6928" y="3657600"/>
            <a:ext cx="75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→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1435608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435608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т1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2231789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231789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т2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027970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027970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т3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3824151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824151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т4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620333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620333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т5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416514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416514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т6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212695" y="3657600"/>
            <a:ext cx="755033" cy="310896"/>
          </a:xfrm>
          <a:prstGeom prst="roundRect">
            <a:avLst>
              <a:gd name="adj" fmla="val 8824"/>
            </a:avLst>
          </a:prstGeom>
          <a:solidFill>
            <a:srgbClr val="E7EBEE"/>
          </a:solidFill>
          <a:ln w="9525">
            <a:solidFill>
              <a:srgbClr val="E7EBEE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212695" y="3657600"/>
            <a:ext cx="7550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т7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196328" y="1691640"/>
            <a:ext cx="4428439" cy="1600200"/>
          </a:xfrm>
          <a:prstGeom prst="roundRect">
            <a:avLst>
              <a:gd name="adj" fmla="val 28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415784" y="185623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обов'язково</a:t>
            </a:r>
            <a:endParaRPr lang="en-US" sz="1350" dirty="0"/>
          </a:p>
        </p:txBody>
      </p:sp>
      <p:sp>
        <p:nvSpPr>
          <p:cNvPr id="65" name="Text 62"/>
          <p:cNvSpPr txBox="1"/>
          <p:nvPr/>
        </p:nvSpPr>
        <p:spPr>
          <a:xfrm>
            <a:off x="7415784" y="2221992"/>
            <a:ext cx="3989527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Телеметрія, прогноз відмов, виявлення малварі, будь-яка задача з дрейфом. Валідація має відтворювати експлуатацію: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навчаємось на минулому, працюємо на майбутньому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66" name="Shape 63"/>
          <p:cNvSpPr/>
          <p:nvPr/>
        </p:nvSpPr>
        <p:spPr>
          <a:xfrm>
            <a:off x="7196328" y="3429000"/>
            <a:ext cx="4428439" cy="1965960"/>
          </a:xfrm>
          <a:prstGeom prst="roundRect">
            <a:avLst>
              <a:gd name="adj" fmla="val 2326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415784" y="359359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Ціна ігнорування</a:t>
            </a:r>
            <a:endParaRPr lang="en-US" sz="1350" dirty="0"/>
          </a:p>
        </p:txBody>
      </p:sp>
      <p:sp>
        <p:nvSpPr>
          <p:cNvPr id="68" name="Text 65"/>
          <p:cNvSpPr txBox="1"/>
          <p:nvPr/>
        </p:nvSpPr>
        <p:spPr>
          <a:xfrm>
            <a:off x="7415784" y="3959352"/>
            <a:ext cx="3989527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класифікації Android-малварі опубліковані F1 доходили до 0.99. Після усунення часового зміщення (навчання лише на раніших зразках) і просторового (реалістична пропорція малварі) результати виявились суттєво завищеними.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TESSERACT, USENIX Security '19 · 129K застосунків за 3 роки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2 · СХЕМИ КРОС-ВАЛІДАЦІЇ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CV: коли ви одночасно підбираєте і звітуєте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640080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91640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зовнішній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37944" y="1691640"/>
            <a:ext cx="973836" cy="384048"/>
          </a:xfrm>
          <a:prstGeom prst="roundRect">
            <a:avLst>
              <a:gd name="adj" fmla="val 7143"/>
            </a:avLst>
          </a:prstGeom>
          <a:solidFill>
            <a:srgbClr val="5B3B70"/>
          </a:solidFill>
          <a:ln w="9525">
            <a:solidFill>
              <a:srgbClr val="5B3B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37944" y="1691640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оцінка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52928" y="1691640"/>
            <a:ext cx="3895344" cy="384048"/>
          </a:xfrm>
          <a:prstGeom prst="roundRect">
            <a:avLst>
              <a:gd name="adj" fmla="val 7143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52928" y="16916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внутрішній цикл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47088" y="2212848"/>
            <a:ext cx="94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внутр.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98648" y="22128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98648" y="2212848"/>
            <a:ext cx="9315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71341" y="22128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44034" y="22128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16727" y="22128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47088" y="2670048"/>
            <a:ext cx="94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внутр. 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898648" y="26700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71341" y="26700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71341" y="2670048"/>
            <a:ext cx="9315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844034" y="26700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16727" y="26700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47088" y="3127248"/>
            <a:ext cx="941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внутр. 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898648" y="31272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71341" y="31272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44034" y="31272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8F6A0C"/>
          </a:solidFill>
          <a:ln w="9525">
            <a:solidFill>
              <a:srgbClr val="8F6A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4034" y="3127248"/>
            <a:ext cx="9315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16727" y="3127248"/>
            <a:ext cx="931545" cy="347472"/>
          </a:xfrm>
          <a:prstGeom prst="roundRect">
            <a:avLst>
              <a:gd name="adj" fmla="val 7895"/>
            </a:avLst>
          </a:prstGeom>
          <a:solidFill>
            <a:srgbClr val="2F6289"/>
          </a:solidFill>
          <a:ln w="9525">
            <a:solidFill>
              <a:srgbClr val="2F628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6384" y="3749040"/>
            <a:ext cx="5961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Внутрішній цикл обирає гіперпараметри. Зовнішній дає оцінку всієї процедури — разом із підбором. Повторити для кожного зовнішнього фолду.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96328" y="1481328"/>
            <a:ext cx="4428439" cy="1463040"/>
          </a:xfrm>
          <a:prstGeom prst="roundRect">
            <a:avLst>
              <a:gd name="adj" fmla="val 3125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15784" y="164592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сама метафора патрона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415784" y="2011680"/>
            <a:ext cx="39895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ви тим самим фолдом обрали гіперпараметри і ним же відзвітували — це витік. Просто повільний і непомітний.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196328" y="3127248"/>
            <a:ext cx="4428439" cy="1463040"/>
          </a:xfrm>
          <a:prstGeom prst="roundRect">
            <a:avLst>
              <a:gd name="adj" fmla="val 312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415784" y="329184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цим можна не займатися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7415784" y="3657600"/>
            <a:ext cx="39895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є окремий, жодного разу не торканий тест — nested CV не потрібен. Він потрібен тоді, коли даних мало й окремий тест ви дозволити собі не можете.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ВИТІК ДАНИХ · 20 ХВ · ЯДРО ЛЕКЦІЇ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Витік — це коли модель на навчанні бачить інформацію,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якої не буде в момент застосування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5382616" cy="1920240"/>
          </a:xfrm>
          <a:prstGeom prst="roundRect">
            <a:avLst>
              <a:gd name="adj" fmla="val 2381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245059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маргінальна помилка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816352"/>
            <a:ext cx="49437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Систематичний огляд знайшов витік у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 роботах із 17 наукових дисциплін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від медицини до політології — і класифікував його у вісім типів.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Kapoor &amp; Narayanan, Patterns, 2023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2152" y="2286000"/>
            <a:ext cx="5382616" cy="1920240"/>
          </a:xfrm>
          <a:prstGeom prst="roundRect">
            <a:avLst>
              <a:gd name="adj" fmla="val 2381"/>
            </a:avLst>
          </a:prstGeom>
          <a:solidFill>
            <a:srgbClr val="1B2530"/>
          </a:solidFill>
          <a:ln w="12700">
            <a:solidFill>
              <a:srgbClr val="34404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245059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безпеці — так само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816352"/>
            <a:ext cx="49437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48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оцінювання лише в лабораторних умовах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48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ігнорування базової частоти класу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48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невідповідні метрики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48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зміщення вибірки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E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9A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 et al., USENIX Security '22 — 30 робіт за 10 років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«студентська» помилка. Це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0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галузі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поки хтось свідомо не будує процедуру проти неї.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ВИТІК ДАНИХ · 20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Таксономія: шість місць, де це стається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6304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2763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19751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Ціль просочилась в ознаки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52374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Ознака порахована постфактум — вона існує тільки тому, що подія вже сталася.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8218" y="146304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7674" y="162763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57674" y="19751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Препроцесинг по всьому датасету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57674" y="252374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Scaler, PCA, імпутація, відбір ознак «підглянули» статистики тесту.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09509" y="146304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8965" y="162763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328965" y="19751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Дублікати й майже-дублікати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8965" y="252374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Сусідні кадри, аугментації оригіналу, той самий об'єкт під іншим ракурсом.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324612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" y="341071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" y="375818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Груповий витік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430682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самий борт, політ, оператор, місцевість по різні боки розбиття.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38218" y="324612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57674" y="341071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5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557674" y="375818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Часовий витік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57674" y="430682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Перемішали ряд; ковзні статистики через межу; target encoding без out-of-fold.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09509" y="3246120"/>
            <a:ext cx="351525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8965" y="341071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 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328965" y="375818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Мета-витік і хибна кореляція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328965" y="4306824"/>
            <a:ext cx="30763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Багаторазовий підбір на тесті; Clever Hans — модель вчить умови зйомки, а не ціль.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52578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 1–2 ви створюєте </a:t>
            </a:r>
            <a:pPr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кодом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Типи 3–5 ви успадковуєте </a:t>
            </a:r>
            <a:pPr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даних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Тип 6 ви створюєте </a:t>
            </a:r>
            <a:pPr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власною поведінкою дослідника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ТИП 1 · ВИТІК ЦІЛІ В ОЗНАКИ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Ціль просочилась в ознаки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640080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Ознака для прогнозу відмови двигуна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5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Вердикт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середня температура на 10-й хвилині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6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чисто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5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рівень вібрації, вікно 60 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6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чисто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кількість перезапусків двигуна за місію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3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витік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час до посадки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3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витік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54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код завершення місії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836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витік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ctr">
                    <a:lnL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196328" y="1481328"/>
            <a:ext cx="4428439" cy="1691640"/>
          </a:xfrm>
          <a:prstGeom prst="roundRect">
            <a:avLst>
              <a:gd name="adj" fmla="val 270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15784" y="1645920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на одному питанні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415784" y="2011680"/>
            <a:ext cx="3989527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буде ця ознака доступна в момент, коли модель має дати відповідь?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«Кількість перезапусків за місію» відома тільки після місії. А прогноз потрібен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місії.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196328" y="3337560"/>
            <a:ext cx="4428439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15784" y="350215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Типові джерела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15784" y="3867912"/>
            <a:ext cx="3989527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агрегати «за весь період», де період включає момент події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поля, які заповнює оператор після інциденту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що зростає з часом і корелює з міткою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у журналі, оновлений постфактум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ТИП 2 · ПРЕПРОЦЕСИНГ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Препроцесинг, що підглянув у тест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11057839" cy="1783080"/>
          </a:xfrm>
          <a:prstGeom prst="roundRect">
            <a:avLst>
              <a:gd name="adj" fmla="val 2564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Неправильно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6384" y="205740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2057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увесь датасет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633472" y="205740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52928" y="2057400"/>
            <a:ext cx="19659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07792" y="20574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StandardScaler.fit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837176" y="205740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47488" y="205740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02352" y="205740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PCA.fit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665976" y="205740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76288" y="205740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31152" y="205740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SMOTE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449056" y="2057400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59368" y="205740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14232" y="20574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2697480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Середнє, дисперсія, головні компоненти, межі викидів, словник токенів — усе це параметри, вивчені з тесту.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66928" y="3429000"/>
            <a:ext cx="11057839" cy="1783080"/>
          </a:xfrm>
          <a:prstGeom prst="roundRect">
            <a:avLst>
              <a:gd name="adj" fmla="val 2564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86384" y="4005072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" y="40050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розбиття за групою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008376" y="4005072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18688" y="4005072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73552" y="400507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Pipeline.fit(train фолду)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43600" y="4005072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144768" y="4005072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99632" y="4005072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Pipeline.transform(val)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869680" y="4005072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070848" y="400507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25712" y="400507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метрика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86384" y="4645152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Усе, що має .fit(), живе всередині Pipeline і навчається на кожному тренувальному фолді окремо.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 зв'язка з ЛР1: видалення викидів по всьому датасету — це теж витік.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ТИП 3 · ДУБЛІКАТИ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Дублікати й майже-дублікати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259986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Сусідні кадри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94560"/>
            <a:ext cx="21609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означає, що 30 «різних прикладів» на секунду — це один приклад із шумом сенсора.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6252" y="1481328"/>
            <a:ext cx="259986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05708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Аугментації оригіналу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05708" y="2194560"/>
            <a:ext cx="21609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Поворот, кроп і оригінал по різні боки розбиття. Аугментувати можна тільки після розбиття і тільки train.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05576" y="1481328"/>
            <a:ext cx="259986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5032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самий об'єкт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25032" y="2194560"/>
            <a:ext cx="21609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одиниця техніки з кількох ракурсів у різні дні дає «різні» приклади, які модель впізнає за деталями, а не за класом.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4899" y="1481328"/>
            <a:ext cx="2599868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44355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Перевипуски зразка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44355" y="2194560"/>
            <a:ext cx="21609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Перепаковані варіанти одного сімейства малварі; передруки того самого документа.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3977640"/>
            <a:ext cx="11057839" cy="1371600"/>
          </a:xfrm>
          <a:prstGeom prst="roundRect">
            <a:avLst>
              <a:gd name="adj" fmla="val 33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" y="4142232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ловити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86384" y="4507992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Перцептивний хеш або ембединг + поріг косинусної близькості між train і test; для тексту — n-грамний перетин; для сигналів — належність до одного неперервного запису. Знайдені пари не «видаляють обережно», а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переносять цілою групою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один бік розбиття.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ТИП 5 · ЧАСОВИЙ ВИТІК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Часовий витік і його близнюк у світі LLM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5382616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Класичний вигляд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49437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перемішали часовий ряд перед розбиттям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ковзне середнє / лаг-ознаки пораховані через межу розбиття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encoding без out-of-fold схеми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нормалізація за статистиками всього періоду, включно з майбутнім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4553712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Наслідок завжди однаковий: офлайн-метрика чудова, у продакшені модель деградує з першого тижня.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2152" y="1481328"/>
            <a:ext cx="5382616" cy="2926080"/>
          </a:xfrm>
          <a:prstGeom prst="roundRect">
            <a:avLst>
              <a:gd name="adj" fmla="val 1563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Контамінація бенчмарку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2011680"/>
            <a:ext cx="494370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Найчистіший експеримент на цю тему: GPT-4 на найлегших задачах Codeforces розв'язала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з 10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задач, опублікованих до межі навчальних даних, і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з 10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задач, опублікованих після неї.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не «модель погіршилась». Це вимірювання показало, що частина результату була пам'яттю, а не міркуванням — рівно як сусідні кадри в train і test.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 He, 2023 · межа даних GPT-4 — вересень 2021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23036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однакове для телеметрії й для LLM-агента: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межа розбиття має бути межею в часі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і про неї треба знати, де вона.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ТИП 6 · ХИБНІ КОРЕЛЯЦІЇ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Clever Hans: модель вчить умови зйомки, а не ціль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3515258" cy="3200400"/>
          </a:xfrm>
          <a:prstGeom prst="roundRect">
            <a:avLst>
              <a:gd name="adj" fmla="val 1429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Легенда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307634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«Нейромережа навчилась відрізняти танки, бо всі кадри з танками зняли в хмарну погоду.»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Історія ходить із 1980-х, першоджерело так і не знайдено — її ретельно розбирали й дійшли висновку, що це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міська легенда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gwern.net/tank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8218" y="1481328"/>
            <a:ext cx="35152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7674" y="1645920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Задокументований випадок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57674" y="2011680"/>
            <a:ext cx="307634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MSTAR — базовий датасет радіолокаційного розпізнавання цілей. Зйомка велася в обмежених умовах, і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 кожного класу корелює з класом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Мережі частково класифікують ціль за характеристиками підстильної поверхні; висока частка правильних відповідей утримується навіть тоді, коли самої цілі в кадрі немає.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2304.00668 · arXiv 2304.01747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09509" y="1481328"/>
            <a:ext cx="3515258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8965" y="1645920"/>
            <a:ext cx="3076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Мета-витік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328965" y="2011680"/>
            <a:ext cx="307634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Модель, яка визначає файл із багом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за текстом issue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без доступу до структури репозиторію: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SWE-bench Verified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5B3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53 %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репозиторіях поза бенчмарком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Різниця — це і є частка «пам'яті», яку бенчмарк зараховував як уміння.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2506.12286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49834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Мораль не в тому, що моделі дурні. У тому, що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завжди знаходить найдешевший спосіб розділити вибірку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і ваш обов'язок — зробити так, щоб найдешевшим був правильний.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ІНТЕРАКТИВ · 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Знайди витік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" y="1828800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755648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12 000 кадрів із 40 польотів, випадкове розбиття 80/20, mAP 0.94.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2152" y="1554480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3320" y="1828800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3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138264" y="1755648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+ PCA застосували до всієї матриці ознак, потім розбили.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2852928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" y="3127248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054096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ознак для прогнозу відмови — «кількість перезапусків двигуна за місію».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42152" y="2852928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3320" y="3127248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332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138264" y="3054096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Зробили SMOTE, потім 5-fold CV, recall 0.99.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" y="4151376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425696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352544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Порівняли 30 конфігурацій на тесті, взяли найкращу, її й записали у звіт.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42152" y="4151376"/>
            <a:ext cx="5382616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43320" y="4425696"/>
            <a:ext cx="548640" cy="548640"/>
          </a:xfrm>
          <a:prstGeom prst="ellipse">
            <a:avLst/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3320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138264" y="4352544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кадри з цілями зняті у червні, усі фонові — у грудні.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Голосування картками A / B / C. Розбори — у нотатках доповідача до цього слайда.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ДІАГНОСТИКА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Червоні прапорці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259986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36576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1993392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Неправдоподібно висока метрика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633472"/>
            <a:ext cx="21609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ваш результат помітно кращий за найкращий опублікований на цій задачі — спочатку шукайте витік, потім радійте.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6252" y="1481328"/>
            <a:ext cx="259986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05708" y="1645920"/>
            <a:ext cx="36576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605708" y="1993392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ознака домінує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605708" y="2633472"/>
            <a:ext cx="21609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feature importance одна ознака забирає більшість внеску. Майже завжди це або ID, або постфактум-поле.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05576" y="1481328"/>
            <a:ext cx="259986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25032" y="1645920"/>
            <a:ext cx="36576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25032" y="1993392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нульова дисперсія між фолдами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25032" y="2633472"/>
            <a:ext cx="21609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Реальні фолди відрізняються. Якщо σ ≈ 0, фолди бачать те саме — тобто вони не незалежні.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24899" y="1481328"/>
            <a:ext cx="2599868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44355" y="1645920"/>
            <a:ext cx="36576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244355" y="1993392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Розрив між офлайном і полем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244355" y="2633472"/>
            <a:ext cx="21609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Найдорожчий спосіб дізнатися про витік. Саме тому три попередні прапорці варто перевіряти раніше.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4069080"/>
            <a:ext cx="11057839" cy="1371600"/>
          </a:xfrm>
          <a:prstGeom prst="roundRect">
            <a:avLst>
              <a:gd name="adj" fmla="val 3333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4233672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Найдешевша перевірка з усіх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4599432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Перемішайте мітки та навчіть ту саму модель тим самим кодом. Метрика має впасти до випадкової. Якщо не впала — у вашому пайплайні є канал, яким інформація тече повз ознаки.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3 · ЛІКУВАННЯ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Лікування, яке я вимагатиму в ЛР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5382616" cy="2377440"/>
          </a:xfrm>
          <a:prstGeom prst="roundRect">
            <a:avLst>
              <a:gd name="adj" fmla="val 1923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Усе перетворення — всередині Pipeline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49437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Усе, що має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.fit()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навчається на кожному тренувальному фолді окремо. Ніяких «підготували дані, потім розбили».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Розбиття за групою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 названа явно й записана в звіті: місія, борт, об'єкт, оператор, день.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2152" y="1481328"/>
            <a:ext cx="5382616" cy="2377440"/>
          </a:xfrm>
          <a:prstGeom prst="roundRect">
            <a:avLst>
              <a:gd name="adj" fmla="val 1923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Тест заморожений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011680"/>
            <a:ext cx="49437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Окремий файл, окремий каталог, не імпортується під час розробки. Кількість звернень — у журналі.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Хеш-розбиття за ідентифікатором групи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Приналежність до фолду — детермінована функція від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mission_id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не від випадкового сіду. Тоді при доливанні даних старі приклади не перестрибують межу.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4069080"/>
            <a:ext cx="11057839" cy="1600200"/>
          </a:xfrm>
          <a:prstGeom prst="roundRect">
            <a:avLst>
              <a:gd name="adj" fmla="val 2857"/>
            </a:avLst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(demo/leakage_demo.ipynb, наживо)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6384" y="464515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464515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train_test_split(shuffle=True)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023360" y="4645152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0" y="464515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2F628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52544" y="464515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0.93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41848" y="4645152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96712" y="46451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GroupKFold(groups=mission_id)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70264" y="4645152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244584" y="464515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5B3B7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99448" y="4645152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3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0.59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86384" y="5193792"/>
            <a:ext cx="106189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Третя клітинка: StandardScaler + PCA до розбиття і після — різниця в метриці на тих самих даних.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НЕЗБАЛАНСОВАНІ КЛАСИ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не в дисбалансі як такому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17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по собі перекіс 1:99 не ламає нічого. Ламають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речі, які з ним приходять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2103120"/>
            <a:ext cx="2599868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2267712"/>
            <a:ext cx="365760" cy="237744"/>
          </a:xfrm>
          <a:prstGeom prst="rect">
            <a:avLst>
              <a:gd name="adj" fmla="val 15385"/>
            </a:avLst>
          </a:prstGeom>
          <a:solidFill>
            <a:srgbClr val="F3EA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61518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Невідповідна метрика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3255264"/>
            <a:ext cx="21609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0.99 при 1 % позитивів дає константний класифікатор «нічого немає». Ви виміряли базову частоту, а не модель.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6252" y="2103120"/>
            <a:ext cx="2599868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05708" y="2267712"/>
            <a:ext cx="365760" cy="237744"/>
          </a:xfrm>
          <a:prstGeom prst="rect">
            <a:avLst>
              <a:gd name="adj" fmla="val 15385"/>
            </a:avLst>
          </a:prstGeom>
          <a:solidFill>
            <a:srgbClr val="F3EA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605708" y="261518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Невідповідний поріг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05708" y="3255264"/>
            <a:ext cx="21609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Стандартні 0.5 нічим не обґрунтовані. Поріг — окреме рішення, яке майже ніхто не ухвалює свідомо.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05576" y="2103120"/>
            <a:ext cx="2599868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25032" y="2267712"/>
            <a:ext cx="365760" cy="237744"/>
          </a:xfrm>
          <a:prstGeom prst="rect">
            <a:avLst>
              <a:gd name="adj" fmla="val 15385"/>
            </a:avLst>
          </a:prstGeom>
          <a:solidFill>
            <a:srgbClr val="F3EA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425032" y="261518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Мала кількість позитивів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25032" y="3255264"/>
            <a:ext cx="21609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позитивів на весь датасет означають дисперсію оцінки, за якої будь-яке порівняння моделей безглузде.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24899" y="2103120"/>
            <a:ext cx="2599868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44355" y="2267712"/>
            <a:ext cx="365760" cy="237744"/>
          </a:xfrm>
          <a:prstGeom prst="rect">
            <a:avLst>
              <a:gd name="adj" fmla="val 15385"/>
            </a:avLst>
          </a:prstGeom>
          <a:solidFill>
            <a:srgbClr val="F3EA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244355" y="2615184"/>
            <a:ext cx="2160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Асиметрична ціна помилок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244355" y="3255264"/>
            <a:ext cx="21609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Пропущена ціль і хибна тривога коштують різного. Метрика, яка їх зрівнює, оптимізує не те.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4892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«боротьба з дисбалансом» через ресемплінг — зазвичай відповідь не на ту проблему. Спершу з'ясуйте, яка з чотирьох у вас.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РОЗРАХУНОК У ЗАЛІ · 3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Порахуйте самі: 10 000 кадрів, цілі в 1 %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71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Модель: recall = 0,90, FPR = 0,05. Скільки сповіщень отримає оператор і скільки з них будуть хибними?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16712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прогноз: ціль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270248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прогноз: фон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1945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є ціль (100)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04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немає (9 900)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67128" y="2194560"/>
            <a:ext cx="2011680" cy="1188720"/>
          </a:xfrm>
          <a:prstGeom prst="roundRect">
            <a:avLst>
              <a:gd name="adj" fmla="val 3077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31720" y="23774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C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0175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70248" y="2194560"/>
            <a:ext cx="2011680" cy="1188720"/>
          </a:xfrm>
          <a:prstGeom prst="roundRect">
            <a:avLst>
              <a:gd name="adj" fmla="val 3077"/>
            </a:avLst>
          </a:prstGeom>
          <a:solidFill>
            <a:srgbClr val="F3EACF"/>
          </a:solidFill>
          <a:ln w="12700">
            <a:solidFill>
              <a:srgbClr val="8F6A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237744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6A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301752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67128" y="3520440"/>
            <a:ext cx="2011680" cy="1188720"/>
          </a:xfrm>
          <a:prstGeom prst="roundRect">
            <a:avLst>
              <a:gd name="adj" fmla="val 3077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31720" y="37033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495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43434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70248" y="3520440"/>
            <a:ext cx="2011680" cy="1188720"/>
          </a:xfrm>
          <a:prstGeom prst="roundRect">
            <a:avLst>
              <a:gd name="adj" fmla="val 3077"/>
            </a:avLst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34840" y="37033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9 405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4434840" y="43434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196328" y="1828800"/>
            <a:ext cx="4428439" cy="1600200"/>
          </a:xfrm>
          <a:prstGeom prst="roundRect">
            <a:avLst>
              <a:gd name="adj" fmla="val 2857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15784" y="199339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415784" y="2359152"/>
            <a:ext cx="3989527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/ (90 + 495) = 15 %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отримує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 сповіщень, з яких 495 хибні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Recall 0,90 виглядав чудово.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96328" y="3611880"/>
            <a:ext cx="4428439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15784" y="377647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Переклад у робочу метрику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7415784" y="4142232"/>
            <a:ext cx="3989527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хибної тривоги на кадр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хибні тривоги на секунду при 30 fps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5 300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хибних тривог на годину відео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НЕЗБАЛАНСОВАНІ КЛАСИ · 14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залежить від базової частоти, а не лише від моделі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46304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196328" y="1463040"/>
            <a:ext cx="4428439" cy="2194560"/>
          </a:xfrm>
          <a:prstGeom prst="roundRect">
            <a:avLst>
              <a:gd name="adj" fmla="val 208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15784" y="162763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Ключове питання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415784" y="1993392"/>
            <a:ext cx="3989527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Якою має бути FPR, щоб при тому самому recall 0,90 precision дорівнював 0,5?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C63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0,9 %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Тобто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5,5 раза менше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ніж було. Та сама модель із трохи іншим порогом цього не дасть — потрібна інша модель або інший сенсорний контур.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196328" y="3822192"/>
            <a:ext cx="4428439" cy="1737360"/>
          </a:xfrm>
          <a:prstGeom prst="roundRect">
            <a:avLst>
              <a:gd name="adj" fmla="val 2632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15784" y="3986784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Наслідок, про який забувають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15784" y="4352544"/>
            <a:ext cx="398952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 частота на полігоні й у застосуванні різна.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змінюється навіть за незмінної моделі.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Модель, перевірена на датасеті з 20 % цілей, у полі з 0,5 % цілей поводиться зовсім інакше.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ІНСТРУМЕНТИ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Інструменти й межі їхньої застосовності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2599868" cy="274320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Ваги класів / cost-sensitive loss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94560"/>
            <a:ext cx="21609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Найпростіше і найчесніше: задати вартість помилок явно, а не через маніпуляції з вибіркою.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руйнує калібрування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6252" y="1481328"/>
            <a:ext cx="2599868" cy="274320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05708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Ресемплінг: under / over / SMOTE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05708" y="2194560"/>
            <a:ext cx="21609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у високій розмірності інтерполює в майже порожньому просторі; на категоріальних ознаках породжує неіснуючі значення;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розбиття — це витік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(кейс 4).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руйнує калібрування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05576" y="1481328"/>
            <a:ext cx="2599868" cy="2743200"/>
          </a:xfrm>
          <a:prstGeom prst="roundRect">
            <a:avLst>
              <a:gd name="adj" fmla="val 1759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5032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Підбір порога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25032" y="2194560"/>
            <a:ext cx="21609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Найдешевший і найчастіше забутий інструмент. Модель дає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ранжування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рішення дає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поріг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Поріг — продуктова, а не статистична величина: його диктує вартість пропуску проти вартості хибної тривоги і пропускна здатність оператора.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4899" y="1481328"/>
            <a:ext cx="2599868" cy="274320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44355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позитивів майже немає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44355" y="2194560"/>
            <a:ext cx="21609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Переформулювати як виявлення аномалій: вчимося на нормі, шукаємо відхилення.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міст до лекції 14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46177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дій: спершу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поріг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потім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ваги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і лише якщо не спрацювало — ресемплінг. Студенти роблять навпаки.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МЕТРИКИ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0.98 і PR-AUC 0.65 — це одна й та сама модель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481328"/>
          <a:ext cx="5349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47731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2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≈ 0,98 — не залежить від базової частоти</a:t>
            </a:r>
            <a:endParaRPr lang="en-US" sz="11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81928" y="1481328"/>
          <a:ext cx="5349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281928" y="47731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 ≈ 0,65 при базовій лінії 0,01 — залежить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66928" y="528523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Робоча точка одна й та сама: recall 90 % при FPR 5 %.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оптимістичний при сильному перекосі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бо FPR ділиться на величезну кількість негативів: 495 хибних тривог — це «всього 5 %». PR-крива рахує ту саму помилку відносно 100 позитивів і показує 15 %.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4 · МЕТРИКИ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Метрики, які фіксують робочу точку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2599868" cy="283464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@ фіксована FPR / FPPI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194560"/>
            <a:ext cx="21609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Галузевий стандарт у виявленні: спершу фіксуємо допустимий потік хибних тривог, потім міряємо, скільки цілей знайдено.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 = 0.875 @ FAR 5 %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 = 0.745 @ FAR 1 %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2606.29589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6252" y="1481328"/>
            <a:ext cx="2599868" cy="2834640"/>
          </a:xfrm>
          <a:prstGeom prst="roundRect">
            <a:avLst>
              <a:gd name="adj" fmla="val 1759"/>
            </a:avLst>
          </a:prstGeom>
          <a:solidFill>
            <a:srgbClr val="DEE9F2"/>
          </a:solidFill>
          <a:ln w="12700">
            <a:solidFill>
              <a:srgbClr val="2F628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05708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саме у світі LLM-агентів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05708" y="2194560"/>
            <a:ext cx="21609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Детектор промпт-ін'єкцій оцінюють саме так, бо доброякісного трафіку в тисячі разів більше за атаки: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94,8 %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атак @ FPR 1 %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87,8 %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@ FPR 0,5 %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F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65,3 %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@ FPR 0,1 %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PromptShield, arXiv 2501.15145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05576" y="1481328"/>
            <a:ext cx="2599868" cy="283464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5032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@ k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25032" y="2194560"/>
            <a:ext cx="21609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оператор фізично перевірить лише k об'єктів за зміну, усе, що нижче k у ранжуванні, не існує. Міряйте те, що він реально побачить.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4899" y="1481328"/>
            <a:ext cx="2599868" cy="283464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44355" y="1645920"/>
            <a:ext cx="216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MCC, balanced accuracy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244355" y="2194560"/>
            <a:ext cx="21609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треба одне число для порівняння моделей і обидва класи важливі. MCC стійкіший до перекосу, ніж F1.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47091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Зверніть увагу на форму запису: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без названої робочої точки — це не результат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«Recall 0.9» без FPR не означає нічого.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5 · КАЛІБРУВАННЯ ЙМОВІРНОСТЕЙ · 10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Калібрована ймовірність: означення на пальцях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усіх випадків, де модель сказала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позитивних має бути приблизно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Не 95 і не 60.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6596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196328" y="1965960"/>
            <a:ext cx="4428439" cy="1463040"/>
          </a:xfrm>
          <a:prstGeom prst="roundRect">
            <a:avLst>
              <a:gd name="adj" fmla="val 3125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15784" y="213055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Крива нижче діагоналі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7415784" y="2496312"/>
            <a:ext cx="398952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самовпевненість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Модель заявляє 0,9, а правий лише в 64 % випадків. ECE ≈ 0,13 до і ≈ 0,02 після.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196328" y="3611880"/>
            <a:ext cx="4428439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15784" y="377647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міряємо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415784" y="4142232"/>
            <a:ext cx="398952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середній зважений розрив по бінах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reliability − resolution + uncertainty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log-loss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жорстко карає впевнені помилки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5 · КАЛІБРУВАННЯ ЙМОВІРНОСТЕЙ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це в автономних системах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5382616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не закінчується на моделі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11680"/>
            <a:ext cx="4943704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входить у трекер як ймовірність існування об'єкта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входить у фільтр як вага вимірювання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входить у правило рішення за очікуваною вартістю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входить у злиття кількох сенсорів як апостеріорна ймовірність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3803904"/>
            <a:ext cx="494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Некалібрований score ламає все, що стоїть після моделі — мовчки і без помилки в логах.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2152" y="1481328"/>
            <a:ext cx="5382616" cy="2606040"/>
          </a:xfrm>
          <a:prstGeom prst="roundRect">
            <a:avLst>
              <a:gd name="adj" fmla="val 1754"/>
            </a:avLst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164592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Типові патології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2011680"/>
            <a:ext cx="494370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наївний Баєс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крайня самовпевненість через припущення незалежності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сучасні нейромережі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самовпевнені тим сильніше, чим більша ємність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відступи не є ймовірностями; сигмоїдна форма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випадковий ліс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«боїться» країв: усереднення не дає ні 0, ні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97680"/>
            <a:ext cx="11057839" cy="1371600"/>
          </a:xfrm>
          <a:prstGeom prst="roundRect">
            <a:avLst>
              <a:gd name="adj" fmla="val 3333"/>
            </a:avLst>
          </a:prstGeom>
          <a:solidFill>
            <a:srgbClr val="DEE9F2"/>
          </a:solidFill>
          <a:ln w="12700">
            <a:solidFill>
              <a:srgbClr val="2F628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" y="4462272"/>
            <a:ext cx="10618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самий ефект у LLM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" y="4828032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технічному звіті GPT-4 базова модель на підвибірці MMLU калібрована майже ідеально (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ECE ≈ 0,007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а після RLHF ECE зростає приблизно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порядок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0,074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Модель навчилася звучати впевнено — і саме тому її logprob більше не можна класти в правило прийняття рішення без перекалібрування.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5 · КАЛІБРУВАННЯ ЙМОВІРНОСТЕЙ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методи і коли який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81328"/>
            <a:ext cx="351525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645920"/>
            <a:ext cx="3076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 scaling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57400"/>
            <a:ext cx="30763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Сигмоїда з двома параметрами поверх score. Мало даних, параметрична форма, стійкий.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1 000 прикладів калібрування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8218" y="1481328"/>
            <a:ext cx="351525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7674" y="1645920"/>
            <a:ext cx="3076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Ізотонічна регресія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57674" y="2057400"/>
            <a:ext cx="30763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Непараметрична монотонна функція. Гнучкіша, але схильна до перенавчання на малих вибірках.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кількох тисяч прикладів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09509" y="1481328"/>
            <a:ext cx="3515258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8965" y="1645920"/>
            <a:ext cx="3076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scaling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328965" y="2057400"/>
            <a:ext cx="307634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параметр на всі логіти. Не змінює argmax, тому accuracy лишається тією самою.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багатокласові мережі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3520440"/>
            <a:ext cx="5382616" cy="1783080"/>
          </a:xfrm>
          <a:prstGeom prst="roundRect">
            <a:avLst>
              <a:gd name="adj" fmla="val 2564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" y="368503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Застереження 1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86384" y="4050792"/>
            <a:ext cx="49437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Калібрувати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окремій вибірці або через CV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ніколи на train. Калібрування на train дає ідеальну діаграму надійності й нульову користь.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42152" y="3520440"/>
            <a:ext cx="5382616" cy="1783080"/>
          </a:xfrm>
          <a:prstGeom prst="roundRect">
            <a:avLst>
              <a:gd name="adj" fmla="val 2564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61608" y="368503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Застереження 2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61608" y="4050792"/>
            <a:ext cx="49437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три методи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монотонні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Тому AUC не змінюється взагалі — а всі порогові метрики й рішення за вартістю змінюються. Хто звітує «після калібрування AUC не виріс, отже, не допомогло» — не зрозумів, що робив.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5 · МІСТОК МІЖ БЛОКАМИ 4 І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Ваги класів і ресемплінг руйнують калібрування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6400800" cy="2560320"/>
          </a:xfrm>
          <a:prstGeom prst="roundRect">
            <a:avLst>
              <a:gd name="adj" fmla="val 1786"/>
            </a:avLst>
          </a:prstGeom>
          <a:solidFill>
            <a:srgbClr val="F7E3DD"/>
          </a:solidFill>
          <a:ln w="12700">
            <a:solidFill>
              <a:srgbClr val="A836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719072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084832"/>
            <a:ext cx="59618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Модель, навчена на збалансованій вибірці або з вагами класів, вчиться під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штучну апріорну ймовірність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Вона оцінює P(ціль | x) для світу, де цілей 50 %, а не 1 %.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виходи більше не є ймовірностями у вашому світі — навіть якщо recall і precision виглядають прийнятно.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96328" y="1554480"/>
            <a:ext cx="4428439" cy="1600200"/>
          </a:xfrm>
          <a:prstGeom prst="roundRect">
            <a:avLst>
              <a:gd name="adj" fmla="val 2857"/>
            </a:avLst>
          </a:prstGeom>
          <a:solidFill>
            <a:srgbClr val="DCE9E3"/>
          </a:solidFill>
          <a:ln w="12700">
            <a:solidFill>
              <a:srgbClr val="2C63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15784" y="1719072"/>
            <a:ext cx="3989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робити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15784" y="2084832"/>
            <a:ext cx="3989527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на апріорну ймовірність через шанси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або перекалібрування на вибірці з природною пропорцією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обох випадках — заново підібрати поріг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96328" y="3291840"/>
            <a:ext cx="4428439" cy="1005840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15784" y="3456432"/>
            <a:ext cx="3989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ви застосували ваги або ресемплінг і після цього використовуєте predict_proba для чогось, крім ранжування — у вас помилка.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6 · ОФЛАЙНОВА VS ЦІЛЬОВА МЕТРИКА · 5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Офлайнова метрика — це проксі, і в нього є точки розриву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4630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463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метрика на кадрі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587752" y="1499616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98648" y="14630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53512" y="1463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агрегація до об'єкта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499616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0368" y="14630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85232" y="1463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агрегація до місії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251192" y="1499616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62088" y="14630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6952" y="1463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рішення оператора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582912" y="1499616"/>
            <a:ext cx="237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893808" y="14630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A8520C"/>
          </a:solidFill>
          <a:ln w="12700">
            <a:solidFill>
              <a:srgbClr val="A852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948672" y="1463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цільова метрика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2240280"/>
            <a:ext cx="25998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240487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РОЗРИВ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86384" y="2752344"/>
            <a:ext cx="2160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Зсув розподілу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86384" y="3346704"/>
            <a:ext cx="21609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Полігон не дорівнює театру дій: інша місцевість, погода, пора року, тактика.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86252" y="2240280"/>
            <a:ext cx="25998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05708" y="240487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РОЗРИВ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605708" y="2752344"/>
            <a:ext cx="2160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Замкнена петля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605708" y="3346704"/>
            <a:ext cx="21609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впливає на власні входи: оператор дивиться туди, куди вона вказала, і розмічає те, що вона знайшла.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05576" y="2240280"/>
            <a:ext cx="25998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25032" y="240487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РОЗРИВ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425032" y="2752344"/>
            <a:ext cx="2160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Рівень агрегації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425032" y="3346704"/>
            <a:ext cx="21609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 vs об'єкт vs місія. Пропустити ціль у 9 кадрах із 10 і знайти в одному — успіх на рівні місії й провал на рівні кадру.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024899" y="2240280"/>
            <a:ext cx="25998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44355" y="2404872"/>
            <a:ext cx="914400" cy="237744"/>
          </a:xfrm>
          <a:prstGeom prst="rect">
            <a:avLst>
              <a:gd name="adj" fmla="val 15385"/>
            </a:avLst>
          </a:prstGeom>
          <a:solidFill>
            <a:srgbClr val="F7E3D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A83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РОЗРИВ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244355" y="2752344"/>
            <a:ext cx="2160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Асиметрія вартості й людина в петлі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9244355" y="3346704"/>
            <a:ext cx="21609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ігнорує систему, яка дає 5 000 хибних тривог на годину. Її фактичний recall — нуль.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461772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спершу формулюємо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цільову метрику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(хибних тривог на годину польоту, частка підтверджених цілей, час оператора до виявлення), і тільки потім обираємо офлайновий проксі — та перевіряємо, чи вони взагалі корелюють.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468112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 саме в бенчмарках LLM-агентів: аудит 17 бенчмарків знайшов помилки оцінювання до 100 % у відносному вираженні — arXiv 2507.02825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7 · ЧЕК-ЛІСТ · 3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Чек-ліст, за яким я прийматиму захисти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536192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481328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прикладне рішення ухвалюється і яка цільова метрика?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249424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2194560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є одиницею незалежності? Яка група?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962656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2907792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розбиття і чому саме вона.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675888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621024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заморожено. Скільки разів на нього дивилися?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389120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15568" y="4334256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Увесь препроцесинг усередині Pipeline, усередині фолду.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42152" y="1536192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4215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790792" y="1481328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доречна класовому перекосу, наведено довірчий інтервал.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42152" y="2249424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4215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790792" y="2194560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Поріг обрано усвідомлено, під вартість помилок.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2152" y="2962656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42152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90792" y="2907792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Ймовірності перевірено на калібрування.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42152" y="3675888"/>
            <a:ext cx="402336" cy="402336"/>
          </a:xfrm>
          <a:prstGeom prst="ellipse">
            <a:avLst/>
          </a:prstGeom>
          <a:solidFill>
            <a:srgbClr val="F1F3F5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42152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790792" y="3621024"/>
            <a:ext cx="474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Названо очікувану причину розходження з полем.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52120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Дев'ять питань. На кожне має бути відповідь одним реченням — у звіті, до захисту, а не на захисті.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БЛОК 7 · АНОНС · 3 ХВ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ЛР2 і гачок на лекцію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5382616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3D9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1719072"/>
            <a:ext cx="494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ЛР2 · дерева рішень + метод головних компонент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267712"/>
            <a:ext cx="494370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лише всередині Pipeline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групове розбиття, група названа явно в звіті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з довірчими інтервалами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поріг обґрунтовано вартістю помилок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4096512"/>
            <a:ext cx="494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зробить PCA до розбиття — отримає завищений результат і мінус на захисті.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4709160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Захист ЛР1 — 24.09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42152" y="1554480"/>
            <a:ext cx="5382616" cy="3291840"/>
          </a:xfrm>
          <a:prstGeom prst="roundRect">
            <a:avLst>
              <a:gd name="adj" fmla="val 1389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61608" y="1719072"/>
            <a:ext cx="494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2084832"/>
            <a:ext cx="4943704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навчилися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чесно міряти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помилку.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B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Наступного разу — звідки вона береться і чому не можна одночасно мінімізувати зсув і дисперсію.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85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ДОДАТОК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 прикладів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256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5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8132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Витік і відтворюваність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810512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S. Kapoor, A. Narayanan. Leakage and the reproducibility crisis in ML-based science. Patterns, 2023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194560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D. Arp et al. Dos and Don'ts of Machine Learning in Computer Security. USENIX Security, 2022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578608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S. Axelsson. The base-rate fallacy and the difficulty of intrusion detection. ACM TISSEC, 2000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12724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Групове й часове розбиття у виявленні БпЛА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456432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How Much Do RF Drone Benchmarks Overstate? arXiv:2607.01025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840480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EchoHawk: acoustic pipeline &amp; session-level leakage. arXiv:2606.29589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224528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Beyond the Performance Illusion (VisDrone, SASP). arXiv:2607.02055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608576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F. Pendlebury et al. TESSERACT. USENIX Security, 2019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42152" y="148132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Хибні кореляції в ATR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242152" y="1810512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Discovering and Explaining the Non-Causality of Deep Learning in SAR ATR. arXiv:2304.00668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42152" y="2194560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Contrastive Feature Alignment for Clutter Robust SAR Recognition. arXiv:2304.01747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242152" y="2578608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Gwern. The Neural Net Tank Urban Legend — gwern.net/tank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242152" y="3127248"/>
            <a:ext cx="538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Контамінація, калібрування, агенти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242152" y="3456432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The SWE-Bench Illusion. arXiv:2506.12286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42152" y="3840480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H. He, спостереження про Codeforces, 2023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42152" y="4224528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OpenAI. GPT-4 Technical Report, 2023 — калібрування до/після RLHF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42152" y="4608576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PromptShield: Deployable Detection for Prompt Injection. arXiv:2501.15145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242152" y="4992624"/>
            <a:ext cx="538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Establishing Best Practices for Building Rigorous Agentic Benchmarks. arXiv:2507.02825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2. Валідація моделей та методологія експерименту</dc:title>
  <dc:subject>Валідація, крос-валідація, витік даних, дисбаланс класів, калібрування</dc:subject>
  <dc:creator>Курс машинного навчання</dc:creator>
  <cp:lastModifiedBy>Курс машинного навчання</cp:lastModifiedBy>
  <cp:revision>1</cp:revision>
  <dcterms:created xsi:type="dcterms:W3CDTF">2026-09-18T09:02:56Z</dcterms:created>
  <dcterms:modified xsi:type="dcterms:W3CDTF">2026-09-18T09:02:56Z</dcterms:modified>
</cp:coreProperties>
</file>